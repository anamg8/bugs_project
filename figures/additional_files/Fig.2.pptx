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658"/>
  </p:normalViewPr>
  <p:slideViewPr>
    <p:cSldViewPr snapToGrid="0">
      <p:cViewPr varScale="1">
        <p:scale>
          <a:sx n="120" d="100"/>
          <a:sy n="120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80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06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44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3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1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88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0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69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8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DAE72-8FD4-0A4E-BB8F-4CCAE9477DD0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27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24EA-6562-FD1B-94F7-2F8C87FC3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>
            <a:extLst>
              <a:ext uri="{FF2B5EF4-FFF2-40B4-BE49-F238E27FC236}">
                <a16:creationId xmlns:a16="http://schemas.microsoft.com/office/drawing/2014/main" id="{B477D7E3-AF46-F044-673B-FE152060B361}"/>
              </a:ext>
            </a:extLst>
          </p:cNvPr>
          <p:cNvSpPr txBox="1"/>
          <p:nvPr/>
        </p:nvSpPr>
        <p:spPr>
          <a:xfrm>
            <a:off x="7220782" y="172390"/>
            <a:ext cx="2162844" cy="5854337"/>
          </a:xfrm>
          <a:prstGeom prst="roundRect">
            <a:avLst/>
          </a:prstGeom>
          <a:solidFill>
            <a:schemeClr val="bg1">
              <a:lumMod val="65000"/>
              <a:alpha val="14289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AD7321E-2DE0-520E-B45C-8CEA51EBFFA1}"/>
              </a:ext>
            </a:extLst>
          </p:cNvPr>
          <p:cNvSpPr txBox="1"/>
          <p:nvPr/>
        </p:nvSpPr>
        <p:spPr>
          <a:xfrm>
            <a:off x="7510050" y="1168577"/>
            <a:ext cx="1553966" cy="6640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err="1"/>
              <a:t>trap_id</a:t>
            </a:r>
            <a:endParaRPr lang="en-GB" sz="1100" b="1" dirty="0"/>
          </a:p>
          <a:p>
            <a:pPr algn="ctr"/>
            <a:r>
              <a:rPr lang="en-GB" sz="1100" dirty="0">
                <a:latin typeface="+mj-lt"/>
              </a:rPr>
              <a:t>latitude</a:t>
            </a:r>
          </a:p>
          <a:p>
            <a:pPr algn="ctr"/>
            <a:r>
              <a:rPr lang="en-GB" sz="1100" dirty="0">
                <a:latin typeface="+mj-lt"/>
              </a:rPr>
              <a:t>longitude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3EEAF0C-E224-74BA-B933-A278C04603BF}"/>
              </a:ext>
            </a:extLst>
          </p:cNvPr>
          <p:cNvSpPr txBox="1"/>
          <p:nvPr/>
        </p:nvSpPr>
        <p:spPr>
          <a:xfrm>
            <a:off x="7519972" y="3179415"/>
            <a:ext cx="1553966" cy="6640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err="1"/>
              <a:t>trap_id</a:t>
            </a:r>
            <a:endParaRPr lang="en-GB" sz="1100" b="1" dirty="0"/>
          </a:p>
          <a:p>
            <a:pPr algn="ctr"/>
            <a:r>
              <a:rPr lang="en-GB" sz="1100" dirty="0">
                <a:latin typeface="+mj-lt"/>
              </a:rPr>
              <a:t>latitude</a:t>
            </a:r>
          </a:p>
          <a:p>
            <a:pPr algn="ctr"/>
            <a:r>
              <a:rPr lang="en-GB" sz="1100" dirty="0">
                <a:latin typeface="+mj-lt"/>
              </a:rPr>
              <a:t>longitude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66050F-62B9-42F1-303F-F34396C9C399}"/>
              </a:ext>
            </a:extLst>
          </p:cNvPr>
          <p:cNvSpPr txBox="1"/>
          <p:nvPr/>
        </p:nvSpPr>
        <p:spPr>
          <a:xfrm>
            <a:off x="7512093" y="5012553"/>
            <a:ext cx="1553966" cy="6640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err="1"/>
              <a:t>camera_id</a:t>
            </a:r>
            <a:endParaRPr lang="en-GB" sz="1100" b="1" dirty="0"/>
          </a:p>
          <a:p>
            <a:pPr algn="ctr"/>
            <a:r>
              <a:rPr lang="en-GB" sz="1100" dirty="0">
                <a:latin typeface="+mj-lt"/>
              </a:rPr>
              <a:t>latitude</a:t>
            </a:r>
          </a:p>
          <a:p>
            <a:pPr algn="ctr"/>
            <a:r>
              <a:rPr lang="en-GB" sz="1100" dirty="0">
                <a:latin typeface="+mj-lt"/>
              </a:rPr>
              <a:t>longitude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2386DE4-9B63-4DAC-5828-989B8A78FDA9}"/>
              </a:ext>
            </a:extLst>
          </p:cNvPr>
          <p:cNvSpPr txBox="1"/>
          <p:nvPr/>
        </p:nvSpPr>
        <p:spPr>
          <a:xfrm>
            <a:off x="4863934" y="172390"/>
            <a:ext cx="2162844" cy="5854337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4289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7F191ED-8F0D-AAD1-11B2-A04DC9AECAAF}"/>
              </a:ext>
            </a:extLst>
          </p:cNvPr>
          <p:cNvSpPr txBox="1"/>
          <p:nvPr/>
        </p:nvSpPr>
        <p:spPr>
          <a:xfrm>
            <a:off x="138604" y="172390"/>
            <a:ext cx="2162844" cy="5920839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93F1A8-37E7-E5F6-BD27-FEB3047682C9}"/>
              </a:ext>
            </a:extLst>
          </p:cNvPr>
          <p:cNvSpPr txBox="1"/>
          <p:nvPr/>
        </p:nvSpPr>
        <p:spPr>
          <a:xfrm>
            <a:off x="5058649" y="691851"/>
            <a:ext cx="1759968" cy="47672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3053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vi) DEPLOYMENT DATES FOR LOGGERS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AF5B41-777E-7BC9-F8A9-642FD50EFBBA}"/>
              </a:ext>
            </a:extLst>
          </p:cNvPr>
          <p:cNvSpPr txBox="1"/>
          <p:nvPr/>
        </p:nvSpPr>
        <p:spPr>
          <a:xfrm>
            <a:off x="5058649" y="2709776"/>
            <a:ext cx="1759968" cy="47672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3053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vii) SOIL TEMPERATURE AND MOISTURE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398FC2-8AFB-67F0-032F-81516F6EF5EF}"/>
              </a:ext>
            </a:extLst>
          </p:cNvPr>
          <p:cNvSpPr txBox="1"/>
          <p:nvPr/>
        </p:nvSpPr>
        <p:spPr>
          <a:xfrm>
            <a:off x="5058649" y="4535827"/>
            <a:ext cx="1759968" cy="28944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3053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viii) MACROHABITATS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BD177E-BE30-906F-1369-088E078BF2BE}"/>
              </a:ext>
            </a:extLst>
          </p:cNvPr>
          <p:cNvSpPr txBox="1"/>
          <p:nvPr/>
        </p:nvSpPr>
        <p:spPr>
          <a:xfrm>
            <a:off x="5161650" y="1168577"/>
            <a:ext cx="1553966" cy="85129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timestamp</a:t>
            </a:r>
          </a:p>
          <a:p>
            <a:pPr algn="ctr"/>
            <a:r>
              <a:rPr lang="en-GB" sz="1100" b="1" dirty="0" err="1"/>
              <a:t>trap_id</a:t>
            </a:r>
            <a:endParaRPr lang="en-GB" sz="1100" b="1" dirty="0">
              <a:latin typeface="+mj-lt"/>
            </a:endParaRPr>
          </a:p>
          <a:p>
            <a:pPr algn="ctr"/>
            <a:r>
              <a:rPr lang="en-GB" sz="1100" b="1" dirty="0" err="1"/>
              <a:t>serial_number</a:t>
            </a:r>
            <a:r>
              <a:rPr lang="en-GB" sz="1100" b="1" dirty="0"/>
              <a:t>           </a:t>
            </a:r>
          </a:p>
          <a:p>
            <a:pPr algn="ctr"/>
            <a:r>
              <a:rPr lang="en-GB" sz="1100" dirty="0" err="1">
                <a:latin typeface="+mj-lt"/>
              </a:rPr>
              <a:t>logger_type</a:t>
            </a:r>
            <a:r>
              <a:rPr lang="en-GB" sz="1100" dirty="0">
                <a:latin typeface="+mj-lt"/>
              </a:rPr>
              <a:t>        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4A182F-F530-E8AA-D2AF-6FEED0D2FBF7}"/>
              </a:ext>
            </a:extLst>
          </p:cNvPr>
          <p:cNvSpPr txBox="1"/>
          <p:nvPr/>
        </p:nvSpPr>
        <p:spPr>
          <a:xfrm>
            <a:off x="5161650" y="3186502"/>
            <a:ext cx="1553966" cy="10385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timestamp</a:t>
            </a:r>
          </a:p>
          <a:p>
            <a:pPr algn="ctr"/>
            <a:r>
              <a:rPr lang="en-GB" sz="1100" b="1" dirty="0" err="1"/>
              <a:t>serial_number</a:t>
            </a:r>
            <a:r>
              <a:rPr lang="en-GB" sz="1100" b="1" dirty="0"/>
              <a:t>           </a:t>
            </a:r>
          </a:p>
          <a:p>
            <a:pPr algn="ctr"/>
            <a:r>
              <a:rPr lang="en-GB" sz="1100" dirty="0" err="1">
                <a:latin typeface="+mj-lt"/>
              </a:rPr>
              <a:t>sensor_name</a:t>
            </a:r>
            <a:endParaRPr lang="en-GB" sz="1100" dirty="0">
              <a:latin typeface="+mj-lt"/>
            </a:endParaRPr>
          </a:p>
          <a:p>
            <a:pPr algn="ctr"/>
            <a:r>
              <a:rPr lang="en-GB" sz="1100" dirty="0">
                <a:latin typeface="+mj-lt"/>
              </a:rPr>
              <a:t>height</a:t>
            </a:r>
          </a:p>
          <a:p>
            <a:pPr algn="ctr"/>
            <a:r>
              <a:rPr lang="en-GB" sz="1100" dirty="0">
                <a:latin typeface="+mj-lt"/>
              </a:rPr>
              <a:t>value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6B13018-4897-9A8C-6F54-CB6717AEE7C2}"/>
              </a:ext>
            </a:extLst>
          </p:cNvPr>
          <p:cNvSpPr txBox="1"/>
          <p:nvPr/>
        </p:nvSpPr>
        <p:spPr>
          <a:xfrm>
            <a:off x="5161650" y="4825268"/>
            <a:ext cx="1553966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100" dirty="0">
              <a:latin typeface="+mj-lt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DE98124-714E-2E3B-486A-FCB10449A786}"/>
              </a:ext>
            </a:extLst>
          </p:cNvPr>
          <p:cNvSpPr txBox="1"/>
          <p:nvPr/>
        </p:nvSpPr>
        <p:spPr>
          <a:xfrm>
            <a:off x="308931" y="325090"/>
            <a:ext cx="1553966" cy="289441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accent6">
                    <a:lumMod val="50000"/>
                  </a:schemeClr>
                </a:solidFill>
              </a:rPr>
              <a:t>BIODIVERSITY DATA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398D2F9-6C6B-C2D3-1818-BE405291C86D}"/>
              </a:ext>
            </a:extLst>
          </p:cNvPr>
          <p:cNvSpPr txBox="1"/>
          <p:nvPr/>
        </p:nvSpPr>
        <p:spPr>
          <a:xfrm>
            <a:off x="2508359" y="167573"/>
            <a:ext cx="2162845" cy="5920839"/>
          </a:xfrm>
          <a:prstGeom prst="roundRect">
            <a:avLst/>
          </a:prstGeom>
          <a:solidFill>
            <a:schemeClr val="accent4">
              <a:lumMod val="75000"/>
              <a:alpha val="1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5D553F2-87B3-5098-2D09-2CC4FF1C2FB9}"/>
              </a:ext>
            </a:extLst>
          </p:cNvPr>
          <p:cNvSpPr txBox="1"/>
          <p:nvPr/>
        </p:nvSpPr>
        <p:spPr>
          <a:xfrm>
            <a:off x="2924126" y="311401"/>
            <a:ext cx="1176411" cy="289441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accent4">
                    <a:lumMod val="75000"/>
                  </a:schemeClr>
                </a:solidFill>
              </a:rPr>
              <a:t>BIOMASS DATA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D4008D-ACCB-C0A3-8BA6-190635EE5FBD}"/>
              </a:ext>
            </a:extLst>
          </p:cNvPr>
          <p:cNvSpPr txBox="1"/>
          <p:nvPr/>
        </p:nvSpPr>
        <p:spPr>
          <a:xfrm>
            <a:off x="389353" y="1168578"/>
            <a:ext cx="1553966" cy="141315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timestamp</a:t>
            </a:r>
            <a:r>
              <a:rPr lang="en-GB" sz="1100" dirty="0"/>
              <a:t>           </a:t>
            </a:r>
          </a:p>
          <a:p>
            <a:pPr algn="ctr"/>
            <a:r>
              <a:rPr lang="en-GB" sz="1100" b="1" dirty="0" err="1"/>
              <a:t>trap_id</a:t>
            </a:r>
            <a:r>
              <a:rPr lang="en-GB" sz="1100" b="1" dirty="0"/>
              <a:t>              </a:t>
            </a:r>
          </a:p>
          <a:p>
            <a:pPr algn="ctr"/>
            <a:r>
              <a:rPr lang="en-GB" sz="1100" dirty="0">
                <a:latin typeface="+mj-lt"/>
              </a:rPr>
              <a:t>taxonomy</a:t>
            </a:r>
          </a:p>
          <a:p>
            <a:pPr algn="ctr"/>
            <a:r>
              <a:rPr lang="en-GB" sz="1100" dirty="0" err="1">
                <a:latin typeface="+mj-lt"/>
              </a:rPr>
              <a:t>Iife_stage</a:t>
            </a:r>
            <a:endParaRPr lang="en-GB" sz="1100" dirty="0">
              <a:latin typeface="+mj-lt"/>
            </a:endParaRPr>
          </a:p>
          <a:p>
            <a:pPr algn="ctr"/>
            <a:r>
              <a:rPr lang="en-GB" sz="1100" dirty="0">
                <a:latin typeface="+mj-lt"/>
              </a:rPr>
              <a:t>method</a:t>
            </a:r>
          </a:p>
          <a:p>
            <a:pPr algn="ctr"/>
            <a:r>
              <a:rPr lang="en-GB" sz="1100" dirty="0" err="1">
                <a:latin typeface="+mj-lt"/>
              </a:rPr>
              <a:t>number_caught</a:t>
            </a:r>
            <a:endParaRPr lang="en-GB" sz="1100" dirty="0">
              <a:latin typeface="+mj-lt"/>
            </a:endParaRPr>
          </a:p>
          <a:p>
            <a:pPr algn="ctr"/>
            <a:r>
              <a:rPr lang="en-GB" sz="1100" dirty="0">
                <a:latin typeface="+mj-lt"/>
              </a:rPr>
              <a:t>comments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6EE009-C4D1-E8B7-2341-3B788EE7AF12}"/>
              </a:ext>
            </a:extLst>
          </p:cNvPr>
          <p:cNvSpPr txBox="1"/>
          <p:nvPr/>
        </p:nvSpPr>
        <p:spPr>
          <a:xfrm>
            <a:off x="314098" y="691851"/>
            <a:ext cx="1759968" cy="4767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 err="1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GB" sz="1100" dirty="0">
                <a:solidFill>
                  <a:schemeClr val="accent6">
                    <a:lumMod val="50000"/>
                  </a:schemeClr>
                </a:solidFill>
              </a:rPr>
              <a:t>) INVERTEBRATE SPECIES COMPOSITION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2775C81-2C30-6ECE-F323-8A59FFBAA9A9}"/>
              </a:ext>
            </a:extLst>
          </p:cNvPr>
          <p:cNvSpPr txBox="1"/>
          <p:nvPr/>
        </p:nvSpPr>
        <p:spPr>
          <a:xfrm>
            <a:off x="2704523" y="691851"/>
            <a:ext cx="1759968" cy="664012"/>
          </a:xfrm>
          <a:prstGeom prst="roundRect">
            <a:avLst/>
          </a:prstGeom>
          <a:solidFill>
            <a:schemeClr val="accent4">
              <a:lumMod val="75000"/>
              <a:alpha val="35992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4">
                    <a:lumMod val="50000"/>
                  </a:schemeClr>
                </a:solidFill>
              </a:rPr>
              <a:t>ii) INVERTEBRATE BIOMASS FOR PITFALL TRAPS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77CD64-E589-A9F4-D5F7-7E8C34975B88}"/>
              </a:ext>
            </a:extLst>
          </p:cNvPr>
          <p:cNvSpPr txBox="1"/>
          <p:nvPr/>
        </p:nvSpPr>
        <p:spPr>
          <a:xfrm>
            <a:off x="2704523" y="2709776"/>
            <a:ext cx="1759968" cy="664012"/>
          </a:xfrm>
          <a:prstGeom prst="roundRect">
            <a:avLst/>
          </a:prstGeom>
          <a:solidFill>
            <a:schemeClr val="accent4">
              <a:lumMod val="75000"/>
              <a:alpha val="35992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4">
                    <a:lumMod val="50000"/>
                  </a:schemeClr>
                </a:solidFill>
              </a:rPr>
              <a:t>iii) INVERTEBRATE BIOMASS FOR SUBTERRANEAN TRAPS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E90AD5-15D8-FA18-0DD9-C029BCEEE47E}"/>
              </a:ext>
            </a:extLst>
          </p:cNvPr>
          <p:cNvSpPr txBox="1"/>
          <p:nvPr/>
        </p:nvSpPr>
        <p:spPr>
          <a:xfrm>
            <a:off x="314098" y="2709776"/>
            <a:ext cx="1759968" cy="4767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6">
                    <a:lumMod val="50000"/>
                  </a:schemeClr>
                </a:solidFill>
              </a:rPr>
              <a:t>iv) VEGETATION SPECIES COMPOSITION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8E911E-5744-3CD0-DFCC-C82C77BC9F2F}"/>
              </a:ext>
            </a:extLst>
          </p:cNvPr>
          <p:cNvSpPr txBox="1"/>
          <p:nvPr/>
        </p:nvSpPr>
        <p:spPr>
          <a:xfrm>
            <a:off x="314098" y="4539345"/>
            <a:ext cx="1759968" cy="4767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accent6">
                    <a:lumMod val="50000"/>
                  </a:schemeClr>
                </a:solidFill>
              </a:rPr>
              <a:t>v) VERTEBRATE SPECIES COMPOSITION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9F6E98E-71A0-AC57-91AB-CD2C900794E9}"/>
              </a:ext>
            </a:extLst>
          </p:cNvPr>
          <p:cNvSpPr txBox="1"/>
          <p:nvPr/>
        </p:nvSpPr>
        <p:spPr>
          <a:xfrm>
            <a:off x="2807524" y="1355863"/>
            <a:ext cx="1553966" cy="10385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timestamp           </a:t>
            </a:r>
          </a:p>
          <a:p>
            <a:pPr algn="ctr"/>
            <a:r>
              <a:rPr lang="en-GB" sz="1100" b="1" dirty="0" err="1"/>
              <a:t>trap_id</a:t>
            </a:r>
            <a:r>
              <a:rPr lang="en-GB" sz="1100" b="1" dirty="0"/>
              <a:t>              </a:t>
            </a:r>
          </a:p>
          <a:p>
            <a:pPr algn="ctr"/>
            <a:r>
              <a:rPr lang="en-GB" sz="1100" dirty="0">
                <a:latin typeface="+mj-lt"/>
              </a:rPr>
              <a:t>weight</a:t>
            </a:r>
          </a:p>
          <a:p>
            <a:pPr algn="ctr"/>
            <a:r>
              <a:rPr lang="en-GB" sz="1100" dirty="0">
                <a:latin typeface="+mj-lt"/>
              </a:rPr>
              <a:t>number</a:t>
            </a:r>
          </a:p>
          <a:p>
            <a:pPr algn="ctr"/>
            <a:r>
              <a:rPr lang="en-GB" sz="1100" dirty="0">
                <a:latin typeface="+mj-lt"/>
              </a:rPr>
              <a:t>comments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1965897-8024-15E7-C795-E01D833B9D28}"/>
              </a:ext>
            </a:extLst>
          </p:cNvPr>
          <p:cNvSpPr txBox="1"/>
          <p:nvPr/>
        </p:nvSpPr>
        <p:spPr>
          <a:xfrm>
            <a:off x="2807524" y="3373788"/>
            <a:ext cx="1553966" cy="10385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timestamp</a:t>
            </a:r>
            <a:r>
              <a:rPr lang="en-GB" sz="1100" dirty="0"/>
              <a:t>           </a:t>
            </a:r>
          </a:p>
          <a:p>
            <a:pPr algn="ctr"/>
            <a:r>
              <a:rPr lang="en-GB" sz="1100" b="1" dirty="0" err="1"/>
              <a:t>trap_id</a:t>
            </a:r>
            <a:r>
              <a:rPr lang="en-GB" sz="1100" b="1" dirty="0"/>
              <a:t>              </a:t>
            </a:r>
          </a:p>
          <a:p>
            <a:pPr algn="ctr"/>
            <a:r>
              <a:rPr lang="en-GB" sz="1100" dirty="0">
                <a:latin typeface="+mj-lt"/>
              </a:rPr>
              <a:t>weight</a:t>
            </a:r>
          </a:p>
          <a:p>
            <a:pPr algn="ctr"/>
            <a:r>
              <a:rPr lang="en-GB" sz="1100" dirty="0">
                <a:latin typeface="+mj-lt"/>
              </a:rPr>
              <a:t>number</a:t>
            </a:r>
          </a:p>
          <a:p>
            <a:pPr algn="ctr"/>
            <a:r>
              <a:rPr lang="en-GB" sz="1100" dirty="0">
                <a:latin typeface="+mj-lt"/>
              </a:rPr>
              <a:t>comments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094A495-91FC-82D1-44B3-EDC93F5F0B45}"/>
              </a:ext>
            </a:extLst>
          </p:cNvPr>
          <p:cNvSpPr txBox="1"/>
          <p:nvPr/>
        </p:nvSpPr>
        <p:spPr>
          <a:xfrm>
            <a:off x="417099" y="3186502"/>
            <a:ext cx="1553966" cy="12258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year</a:t>
            </a:r>
          </a:p>
          <a:p>
            <a:pPr algn="ctr"/>
            <a:r>
              <a:rPr lang="en-GB" sz="1100" b="1" dirty="0"/>
              <a:t>month</a:t>
            </a:r>
          </a:p>
          <a:p>
            <a:pPr algn="ctr"/>
            <a:r>
              <a:rPr lang="en-GB" sz="1100" b="1" dirty="0" err="1"/>
              <a:t>trap_id</a:t>
            </a:r>
            <a:r>
              <a:rPr lang="en-GB" sz="1100" b="1" dirty="0"/>
              <a:t>           </a:t>
            </a:r>
            <a:endParaRPr lang="en-GB" sz="1100" b="1" dirty="0">
              <a:latin typeface="+mj-lt"/>
            </a:endParaRPr>
          </a:p>
          <a:p>
            <a:pPr algn="ctr"/>
            <a:r>
              <a:rPr lang="en-GB" sz="1100" dirty="0">
                <a:latin typeface="+mj-lt"/>
              </a:rPr>
              <a:t>height</a:t>
            </a:r>
          </a:p>
          <a:p>
            <a:pPr algn="ctr"/>
            <a:r>
              <a:rPr lang="en-GB" sz="1100" dirty="0" err="1">
                <a:latin typeface="+mj-lt"/>
              </a:rPr>
              <a:t>veg_taxon</a:t>
            </a:r>
            <a:endParaRPr lang="en-GB" sz="1100" dirty="0">
              <a:latin typeface="+mj-lt"/>
            </a:endParaRPr>
          </a:p>
          <a:p>
            <a:pPr algn="ctr"/>
            <a:r>
              <a:rPr lang="en-GB" sz="1100" dirty="0" err="1">
                <a:latin typeface="+mj-lt"/>
              </a:rPr>
              <a:t>cover_percentage</a:t>
            </a:r>
            <a:endParaRPr lang="en-GB" sz="1100" dirty="0">
              <a:latin typeface="+mj-lt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5870C4C-7266-CA97-AA78-803244994013}"/>
              </a:ext>
            </a:extLst>
          </p:cNvPr>
          <p:cNvSpPr txBox="1"/>
          <p:nvPr/>
        </p:nvSpPr>
        <p:spPr>
          <a:xfrm>
            <a:off x="4977389" y="324742"/>
            <a:ext cx="1646760" cy="289441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accent1">
                    <a:lumMod val="75000"/>
                  </a:schemeClr>
                </a:solidFill>
              </a:rPr>
              <a:t>ENVIRONMENTAL DATA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EE276D-476B-FC6D-0216-902EE568A22A}"/>
              </a:ext>
            </a:extLst>
          </p:cNvPr>
          <p:cNvSpPr txBox="1"/>
          <p:nvPr/>
        </p:nvSpPr>
        <p:spPr>
          <a:xfrm>
            <a:off x="7409092" y="697176"/>
            <a:ext cx="1759968" cy="4767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ix) PITFALL TRAP LOCATIONS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D4E07D-CE55-3BC9-6497-1ED1BBEDF2C0}"/>
              </a:ext>
            </a:extLst>
          </p:cNvPr>
          <p:cNvSpPr txBox="1"/>
          <p:nvPr/>
        </p:nvSpPr>
        <p:spPr>
          <a:xfrm>
            <a:off x="7409092" y="2703839"/>
            <a:ext cx="1759968" cy="4767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x) SUBTERRANEAN TRAP LOCATIONS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36B92A-40F8-BE69-52C2-D422A88340B5}"/>
              </a:ext>
            </a:extLst>
          </p:cNvPr>
          <p:cNvSpPr txBox="1"/>
          <p:nvPr/>
        </p:nvSpPr>
        <p:spPr>
          <a:xfrm>
            <a:off x="7409092" y="4535827"/>
            <a:ext cx="1759968" cy="4767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xi) CAMERA TRAP LOCATIONS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4C80089-0A13-6E77-586A-1C1C6A1D0866}"/>
              </a:ext>
            </a:extLst>
          </p:cNvPr>
          <p:cNvSpPr txBox="1"/>
          <p:nvPr/>
        </p:nvSpPr>
        <p:spPr>
          <a:xfrm>
            <a:off x="7510050" y="324742"/>
            <a:ext cx="1408302" cy="289441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bg2">
                    <a:lumMod val="50000"/>
                  </a:schemeClr>
                </a:solidFill>
              </a:rPr>
              <a:t>SPATIAL METADATA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9CA8F6C-E7A5-46A0-793C-2A9D05A4C6F7}"/>
              </a:ext>
            </a:extLst>
          </p:cNvPr>
          <p:cNvSpPr txBox="1"/>
          <p:nvPr/>
        </p:nvSpPr>
        <p:spPr>
          <a:xfrm>
            <a:off x="437197" y="5016071"/>
            <a:ext cx="1553966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1100" dirty="0">
              <a:latin typeface="+mj-lt"/>
            </a:endParaRPr>
          </a:p>
        </p:txBody>
      </p:sp>
      <p:pic>
        <p:nvPicPr>
          <p:cNvPr id="1028" name="Picture 4" descr="Ant - Free animals icons">
            <a:extLst>
              <a:ext uri="{FF2B5EF4-FFF2-40B4-BE49-F238E27FC236}">
                <a16:creationId xmlns:a16="http://schemas.microsoft.com/office/drawing/2014/main" id="{D1894C5D-6664-BC02-015B-633D92F99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79160">
            <a:off x="1714797" y="247071"/>
            <a:ext cx="418102" cy="41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alance - Free business and finance icons">
            <a:extLst>
              <a:ext uri="{FF2B5EF4-FFF2-40B4-BE49-F238E27FC236}">
                <a16:creationId xmlns:a16="http://schemas.microsoft.com/office/drawing/2014/main" id="{E6616FDA-45A3-0D45-9F26-5D3860612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620" y="276972"/>
            <a:ext cx="323870" cy="32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C20F6CED-F994-61CC-5E54-DEA54A421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28" y="315976"/>
            <a:ext cx="280289" cy="280289"/>
          </a:xfrm>
          <a:prstGeom prst="rect">
            <a:avLst/>
          </a:prstGeom>
        </p:spPr>
      </p:pic>
      <p:pic>
        <p:nvPicPr>
          <p:cNvPr id="1042" name="Picture 18" descr="Coordinates Icons - Free SVG &amp; PNG Coordinates Images - Noun ...">
            <a:extLst>
              <a:ext uri="{FF2B5EF4-FFF2-40B4-BE49-F238E27FC236}">
                <a16:creationId xmlns:a16="http://schemas.microsoft.com/office/drawing/2014/main" id="{68292E10-F24E-B657-E436-E2C4E2C7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099" y="348389"/>
            <a:ext cx="242839" cy="24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027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227</TotalTime>
  <Words>140</Words>
  <Application>Microsoft Macintosh PowerPoint</Application>
  <PresentationFormat>A4 (210 x 297 mm)</PresentationFormat>
  <Paragraphs>56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Morales González</dc:creator>
  <cp:lastModifiedBy>ANA MORALES GONZALEZ</cp:lastModifiedBy>
  <cp:revision>10</cp:revision>
  <dcterms:created xsi:type="dcterms:W3CDTF">2025-12-10T12:37:15Z</dcterms:created>
  <dcterms:modified xsi:type="dcterms:W3CDTF">2026-06-13T15:43:06Z</dcterms:modified>
</cp:coreProperties>
</file>